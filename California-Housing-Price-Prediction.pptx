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igtree" panose="020B0604020202020204" charset="0"/>
      <p:regular r:id="rId13"/>
    </p:embeddedFont>
    <p:embeddedFont>
      <p:font typeface="Figtree Bold" panose="020B0604020202020204" charset="0"/>
      <p:regular r:id="rId14"/>
    </p:embeddedFont>
    <p:embeddedFont>
      <p:font typeface="Figtree SemiBold" panose="020B0604020202020204" charset="0"/>
      <p:regular r:id="rId15"/>
    </p:embeddedFont>
    <p:embeddedFont>
      <p:font typeface="Red Hat Mono Medium" panose="020B0604020202020204" charset="0"/>
      <p:regular r:id="rId16"/>
    </p:embeddedFont>
    <p:embeddedFont>
      <p:font typeface="Urbanist Bold" panose="020B0604020202020204" charset="0"/>
      <p:regular r:id="rId17"/>
    </p:embeddedFont>
    <p:embeddedFont>
      <p:font typeface="Urbanist ExtraBold" panose="020B0604020202020204" charset="0"/>
      <p:regular r:id="rId18"/>
    </p:embeddedFont>
    <p:embeddedFont>
      <p:font typeface="Urbanist SemiBold" panose="020B0604020202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9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Average median_income is 10.01 versus 3.87; rooms per household are 7.61 versus 5.43. The filtered selection is NEAR BAY and income band 5. Both screenshots carry the same selection and KPI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inkedin.com/in/shubham-khatri-0a0883288" TargetMode="External"/><Relationship Id="rId5" Type="http://schemas.openxmlformats.org/officeDocument/2006/relationships/hyperlink" Target="https://github.com/shubham7khatri" TargetMode="External"/><Relationship Id="rId4" Type="http://schemas.openxmlformats.org/officeDocument/2006/relationships/hyperlink" Target="mailto:shubham7khatri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9778" y="6026391"/>
            <a:ext cx="548626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kern="100" spc="-7" dirty="0">
                <a:solidFill>
                  <a:srgbClr val="222B30"/>
                </a:solidFill>
                <a:latin typeface="Urbanist Bold" pitchFamily="34" charset="0"/>
                <a:ea typeface="Urbanist Bold" pitchFamily="34" charset="-122"/>
                <a:cs typeface="Urbanist Bold" pitchFamily="34" charset="-120"/>
              </a:rPr>
              <a:t>Shubham Khatri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09584" y="1429983"/>
            <a:ext cx="3954252" cy="2586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800" kern="100" spc="-96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California Housing Price Prediction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78" y="5806041"/>
            <a:ext cx="4876678" cy="1238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3533888"/>
            <a:ext cx="5486263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PYTHON MODELLING · POWER BI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PROJECT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A complete workflow, from raw data to tested predictions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Shubham Khatri built a reusable scikit-learn pipeline with Random Forest regression.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3071812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E5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338513"/>
            <a:ext cx="3352716" cy="1905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471863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Raw data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9585" y="3913188"/>
            <a:ext cx="33527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Feature engineering and stratified sampling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19489" y="3071812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E5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19489" y="3338513"/>
            <a:ext cx="3352716" cy="1905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1" name="Text 9"/>
          <p:cNvSpPr/>
          <p:nvPr/>
        </p:nvSpPr>
        <p:spPr>
          <a:xfrm>
            <a:off x="4419489" y="3471863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Python modelling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19489" y="3913188"/>
            <a:ext cx="3352716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Preprocessing, prediction and model evaluation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394" y="3071812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E5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394" y="3338513"/>
            <a:ext cx="3352716" cy="1905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394" y="3471863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Power BI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394" y="3913188"/>
            <a:ext cx="33527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Interactive exploration</a:t>
            </a:r>
            <a:endParaRPr lang="en-US" sz="15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5747445"/>
            <a:ext cx="10972526" cy="1238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585" y="60427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Python modelling and an interactive Power BI dashboard connect prediction with exploration.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DATASET AND TARGET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Predicting median house value at district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5333867" cy="4797425"/>
          </a:xfrm>
          <a:prstGeom prst="roundRect">
            <a:avLst>
              <a:gd name="adj" fmla="val 4447"/>
            </a:avLst>
          </a:prstGeom>
          <a:solidFill>
            <a:srgbClr val="F2F6F7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1806575"/>
            <a:ext cx="4622684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400" kern="100" spc="-128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20,640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965176" y="2809875"/>
            <a:ext cx="497827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5176" y="3141662"/>
            <a:ext cx="4622585" cy="31651"/>
          </a:xfrm>
          <a:prstGeom prst="roundRect">
            <a:avLst>
              <a:gd name="adj" fmla="val 49998"/>
            </a:avLst>
          </a:prstGeom>
          <a:solidFill>
            <a:srgbClr val="BFD6DD"/>
          </a:solidFill>
          <a:ln/>
        </p:spPr>
      </p:sp>
      <p:sp>
        <p:nvSpPr>
          <p:cNvPr id="8" name="Text 6"/>
          <p:cNvSpPr/>
          <p:nvPr/>
        </p:nvSpPr>
        <p:spPr>
          <a:xfrm>
            <a:off x="965176" y="3390900"/>
            <a:ext cx="4622684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65176" y="4140200"/>
            <a:ext cx="497827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8244" y="1450975"/>
            <a:ext cx="5333867" cy="4797425"/>
          </a:xfrm>
          <a:prstGeom prst="roundRect">
            <a:avLst>
              <a:gd name="adj" fmla="val 4447"/>
            </a:avLst>
          </a:prstGeom>
          <a:noFill/>
          <a:ln w="12700">
            <a:solidFill>
              <a:srgbClr val="BFD6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6534" y="1819275"/>
            <a:ext cx="45972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median_house_value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616534" y="2260600"/>
            <a:ext cx="496557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Prediction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16534" y="4232275"/>
            <a:ext cx="459728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Location, housing characteristics, population, households and median income.</a:t>
            </a:r>
            <a:endParaRPr lang="en-US" sz="15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534" y="4876800"/>
            <a:ext cx="4597285" cy="1238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616534" y="5172075"/>
            <a:ext cx="45972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Aggregated census data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616534" y="5613400"/>
            <a:ext cx="496557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 individual property valuations.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Feature engineering and a representative test split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Feature ratios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1892300"/>
            <a:ext cx="5257668" cy="571500"/>
          </a:xfrm>
          <a:prstGeom prst="roundRect">
            <a:avLst>
              <a:gd name="adj" fmla="val 37332"/>
            </a:avLst>
          </a:prstGeom>
          <a:solidFill>
            <a:srgbClr val="F2F6F7"/>
          </a:solidFill>
          <a:ln/>
        </p:spPr>
      </p:sp>
      <p:sp>
        <p:nvSpPr>
          <p:cNvPr id="6" name="Text 4"/>
          <p:cNvSpPr/>
          <p:nvPr/>
        </p:nvSpPr>
        <p:spPr>
          <a:xfrm>
            <a:off x="812780" y="2044700"/>
            <a:ext cx="50544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rooms_per_household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2616200"/>
            <a:ext cx="5257668" cy="571500"/>
          </a:xfrm>
          <a:prstGeom prst="roundRect">
            <a:avLst>
              <a:gd name="adj" fmla="val 37332"/>
            </a:avLst>
          </a:prstGeom>
          <a:solidFill>
            <a:srgbClr val="F2F6F7"/>
          </a:solidFill>
          <a:ln/>
        </p:spPr>
      </p:sp>
      <p:sp>
        <p:nvSpPr>
          <p:cNvPr id="8" name="Text 6"/>
          <p:cNvSpPr/>
          <p:nvPr/>
        </p:nvSpPr>
        <p:spPr>
          <a:xfrm>
            <a:off x="812780" y="2768600"/>
            <a:ext cx="50544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bedrooms_per_room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9585" y="3340100"/>
            <a:ext cx="5257668" cy="571500"/>
          </a:xfrm>
          <a:prstGeom prst="roundRect">
            <a:avLst>
              <a:gd name="adj" fmla="val 37332"/>
            </a:avLst>
          </a:prstGeom>
          <a:solidFill>
            <a:srgbClr val="F2F6F7"/>
          </a:solidFill>
          <a:ln/>
        </p:spPr>
      </p:sp>
      <p:sp>
        <p:nvSpPr>
          <p:cNvPr id="10" name="Text 8"/>
          <p:cNvSpPr/>
          <p:nvPr/>
        </p:nvSpPr>
        <p:spPr>
          <a:xfrm>
            <a:off x="812780" y="3492500"/>
            <a:ext cx="5054474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population_per_household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585" y="4022725"/>
            <a:ext cx="525766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Ratios compare how people live across districts of different sizes.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9585" y="4339530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207 missing total_bedrooms values filled with the median.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24442" y="1450975"/>
            <a:ext cx="525766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80/20 split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24442" y="1892300"/>
            <a:ext cx="525766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Five income bands guide StratifiedShuffleSplit.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4442" y="2270125"/>
            <a:ext cx="525766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random_state = 42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24442" y="2780605"/>
            <a:ext cx="4206075" cy="1216025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7" name="Text 15"/>
          <p:cNvSpPr/>
          <p:nvPr/>
        </p:nvSpPr>
        <p:spPr>
          <a:xfrm>
            <a:off x="6527637" y="3034605"/>
            <a:ext cx="379968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80%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27637" y="3475930"/>
            <a:ext cx="400288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Training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0530517" y="2780605"/>
            <a:ext cx="1051593" cy="1216025"/>
          </a:xfrm>
          <a:prstGeom prst="rect">
            <a:avLst/>
          </a:prstGeom>
          <a:solidFill>
            <a:srgbClr val="BFD6DD"/>
          </a:solidFill>
          <a:ln/>
        </p:spPr>
      </p:sp>
      <p:sp>
        <p:nvSpPr>
          <p:cNvPr id="20" name="Text 18"/>
          <p:cNvSpPr/>
          <p:nvPr/>
        </p:nvSpPr>
        <p:spPr>
          <a:xfrm>
            <a:off x="10632114" y="3034605"/>
            <a:ext cx="8483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20%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632114" y="3475930"/>
            <a:ext cx="94999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Test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24442" y="4107755"/>
            <a:ext cx="24764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40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16,512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324442" y="4549080"/>
            <a:ext cx="247643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training records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05672" y="4107755"/>
            <a:ext cx="247643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40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4,128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05672" y="4549080"/>
            <a:ext cx="247643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held-out test records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REUSABLE SCIKIT-LEARN 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One pipeline handles preprocessing and prediction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330847"/>
            <a:ext cx="81228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E5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2597547"/>
            <a:ext cx="3352716" cy="1905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730897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172222"/>
            <a:ext cx="3352716" cy="1177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50"/>
              </a:spcAft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Numeric columns use median imputation and standard scaling.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ocean_proximity uses one-hot encoding.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19489" y="2330847"/>
            <a:ext cx="84125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E5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19489" y="2597547"/>
            <a:ext cx="3352716" cy="1905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2730897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ColumnTransformer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19489" y="3172222"/>
            <a:ext cx="33527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Combines the inputs.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394" y="2330847"/>
            <a:ext cx="83748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F4E5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394" y="2597547"/>
            <a:ext cx="3352716" cy="1905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394" y="2730897"/>
            <a:ext cx="335271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RandomForestRegressor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29394" y="3172222"/>
            <a:ext cx="3352716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5420519"/>
            <a:ext cx="10972526" cy="827980"/>
          </a:xfrm>
          <a:prstGeom prst="roundRect">
            <a:avLst>
              <a:gd name="adj" fmla="val 25768"/>
            </a:avLst>
          </a:prstGeom>
          <a:solidFill>
            <a:srgbClr val="F2F6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377" y="5674519"/>
            <a:ext cx="1066773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scikit-learn Pipeline chains preprocessing and RandomForestRegressor.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HELD-OUT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The model explains about 81% of price variation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5257668" cy="4420295"/>
          </a:xfrm>
          <a:prstGeom prst="roundRect">
            <a:avLst>
              <a:gd name="adj" fmla="val 4827"/>
            </a:avLst>
          </a:prstGeom>
          <a:solidFill>
            <a:srgbClr val="F2F6F7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1450975"/>
            <a:ext cx="5257668" cy="6350"/>
          </a:xfrm>
          <a:prstGeom prst="rect">
            <a:avLst/>
          </a:prstGeom>
          <a:solidFill>
            <a:srgbClr val="BFD6DD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3056235"/>
            <a:ext cx="4902077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HELD-OUT R²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5176" y="3307060"/>
            <a:ext cx="4546486" cy="965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600" kern="100" spc="-152" dirty="0">
                <a:solidFill>
                  <a:srgbClr val="000000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0.8137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6324442" y="2486720"/>
            <a:ext cx="525766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MAE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24442" y="2737545"/>
            <a:ext cx="525766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100" spc="-7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$32,331.02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6324442" y="3456682"/>
            <a:ext cx="5257668" cy="31651"/>
          </a:xfrm>
          <a:prstGeom prst="roundRect">
            <a:avLst>
              <a:gd name="adj" fmla="val 49998"/>
            </a:avLst>
          </a:prstGeom>
          <a:solidFill>
            <a:srgbClr val="BFD6DD"/>
          </a:solidFill>
          <a:ln/>
        </p:spPr>
      </p:sp>
      <p:sp>
        <p:nvSpPr>
          <p:cNvPr id="11" name="Text 9"/>
          <p:cNvSpPr/>
          <p:nvPr/>
        </p:nvSpPr>
        <p:spPr>
          <a:xfrm>
            <a:off x="6324442" y="3705920"/>
            <a:ext cx="5257668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RMSE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24442" y="3956745"/>
            <a:ext cx="5257668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800" kern="100" spc="-7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$49,961.68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324442" y="4629845"/>
            <a:ext cx="525766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RMSE penalises larger errors more.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585" y="6042720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Scores come from one test split.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INTERACTIVE EXPLORATION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Power BI makes the dataset explorable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Bubble map, location and income slicers, ten KPI cards and linked filtering.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09585" y="5794375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Unfiltered average median house value: </a:t>
            </a:r>
            <a:r>
              <a:rPr lang="en-US" sz="1200" b="1" dirty="0">
                <a:solidFill>
                  <a:srgbClr val="6B778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$206.86K</a:t>
            </a: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.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BD5FD1-0C5C-51C0-AF4F-EC41D2AC7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85141"/>
            <a:ext cx="6852572" cy="38512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3810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FILTERED DASHBOARD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6318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High-income Near Bay districts have higher prices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222375"/>
            <a:ext cx="53338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40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$472.76K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1663700"/>
            <a:ext cx="533386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NEAR BAY · income band 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248244" y="1222375"/>
            <a:ext cx="533386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40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$206.86K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48244" y="1663700"/>
            <a:ext cx="533386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Unfiltered average median house value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9585" y="5101431"/>
            <a:ext cx="533386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Bubbles identify individual districts.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6248244" y="5101431"/>
            <a:ext cx="533386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Heat map shows district density, not price intensity.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09585" y="5478562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6B778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Same filtered selection and KPI values, different map view.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047DB3-200A-A796-8CBE-3BBFFB533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530" y="1947252"/>
            <a:ext cx="5450639" cy="30360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41E6BC0-D092-B200-8EC7-7AB569F79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1947252"/>
            <a:ext cx="5438886" cy="30502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BASELINE AND 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A solid baseline with clear limits and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5257668" cy="4797425"/>
          </a:xfrm>
          <a:prstGeom prst="roundRect">
            <a:avLst>
              <a:gd name="adj" fmla="val 4447"/>
            </a:avLst>
          </a:prstGeom>
          <a:solidFill>
            <a:srgbClr val="F2F6F7"/>
          </a:solidFill>
          <a:ln/>
        </p:spPr>
      </p:sp>
      <p:sp>
        <p:nvSpPr>
          <p:cNvPr id="5" name="Text 3"/>
          <p:cNvSpPr/>
          <p:nvPr/>
        </p:nvSpPr>
        <p:spPr>
          <a:xfrm>
            <a:off x="965176" y="1806575"/>
            <a:ext cx="454648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Current limits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5176" y="2247900"/>
            <a:ext cx="4546486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1990 census data and values capped around $500K limit present-day use.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Default Random Forest settings.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cross-validation, model comparison or feature-importance analysis yet.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2" y="1450975"/>
            <a:ext cx="5257668" cy="4797425"/>
          </a:xfrm>
          <a:prstGeom prst="roundRect">
            <a:avLst>
              <a:gd name="adj" fmla="val 4447"/>
            </a:avLst>
          </a:prstGeom>
          <a:noFill/>
          <a:ln w="12700">
            <a:solidFill>
              <a:srgbClr val="BFD6DD"/>
            </a:solidFill>
            <a:prstDash val="solid"/>
          </a:ln>
          <a:effectLst>
            <a:outerShdw blurRad="127" dist="62230" dir="5400000" algn="bl" rotWithShape="0">
              <a:srgbClr val="BFD6DD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92733" y="1819275"/>
            <a:ext cx="452108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Proposed next steps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92733" y="2260600"/>
            <a:ext cx="452108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Tuning and benchmarking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Explainability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Dashboard predictions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222B3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Newer data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F4E5F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-120"/>
              </a:rPr>
              <a:t>PORTFOLIO SKILLS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F4E5F"/>
                </a:solidFill>
                <a:latin typeface="Urbanist ExtraBold" pitchFamily="34" charset="0"/>
                <a:ea typeface="Urbanist ExtraBold" pitchFamily="34" charset="-122"/>
                <a:cs typeface="Urbanist ExtraBold" pitchFamily="34" charset="-120"/>
              </a:rPr>
              <a:t>Skills demonstrated across modelling and visualisation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091432"/>
            <a:ext cx="5257668" cy="1584325"/>
          </a:xfrm>
          <a:prstGeom prst="roundRect">
            <a:avLst>
              <a:gd name="adj" fmla="val 13467"/>
            </a:avLst>
          </a:prstGeom>
          <a:solidFill>
            <a:srgbClr val="F2F6F7"/>
          </a:solidFill>
          <a:ln/>
        </p:spPr>
      </p:sp>
      <p:sp>
        <p:nvSpPr>
          <p:cNvPr id="5" name="Text 3"/>
          <p:cNvSpPr/>
          <p:nvPr/>
        </p:nvSpPr>
        <p:spPr>
          <a:xfrm>
            <a:off x="914377" y="2396232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Modelling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377" y="2837557"/>
            <a:ext cx="46480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 analysis, feature engineering, stratified sampling and model evaluation.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24442" y="2091432"/>
            <a:ext cx="5257668" cy="1584325"/>
          </a:xfrm>
          <a:prstGeom prst="roundRect">
            <a:avLst>
              <a:gd name="adj" fmla="val 13467"/>
            </a:avLst>
          </a:prstGeom>
          <a:solidFill>
            <a:srgbClr val="F2F6F7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2396232"/>
            <a:ext cx="464808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Visualisation and reproducibility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234" y="2837557"/>
            <a:ext cx="464808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Power BI visualisation and reproducible end-to-end pipelines.</a:t>
            </a:r>
            <a:endParaRPr lang="en-US" sz="15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506714"/>
            <a:ext cx="10972526" cy="1238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9585" y="4957564"/>
            <a:ext cx="109725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4E5F"/>
                </a:solidFill>
                <a:latin typeface="Urbanist SemiBold" pitchFamily="34" charset="0"/>
                <a:ea typeface="Urbanist SemiBold" pitchFamily="34" charset="-122"/>
                <a:cs typeface="Urbanist SemiBold" pitchFamily="34" charset="-120"/>
              </a:rPr>
              <a:t>Shubham Khatri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9585" y="5398889"/>
            <a:ext cx="1158211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u="sng" dirty="0">
                <a:solidFill>
                  <a:srgbClr val="1F4E5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shubham7khatri@gmail.com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09585" y="5837039"/>
            <a:ext cx="10972526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b="1" u="sng" dirty="0">
                <a:solidFill>
                  <a:srgbClr val="1F4E5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github.com/shubham7khatri</a:t>
            </a: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b="1" u="sng" dirty="0">
                <a:solidFill>
                  <a:srgbClr val="1F4E5F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linkedin.com/in/shubham-khatri-0a0883288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4E5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497</Words>
  <Application>Microsoft Office PowerPoint</Application>
  <PresentationFormat>Widescreen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Figtree Bold</vt:lpstr>
      <vt:lpstr>Urbanist Bold</vt:lpstr>
      <vt:lpstr>Urbanist SemiBold</vt:lpstr>
      <vt:lpstr>Urbanist ExtraBold</vt:lpstr>
      <vt:lpstr>Red Hat Mono Medium</vt:lpstr>
      <vt:lpstr>Figtree</vt:lpstr>
      <vt:lpstr>Figtree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Shubham Khatri</cp:lastModifiedBy>
  <cp:revision>3</cp:revision>
  <dcterms:created xsi:type="dcterms:W3CDTF">2026-10-03T03:43:50Z</dcterms:created>
  <dcterms:modified xsi:type="dcterms:W3CDTF">2026-10-03T11:23:17Z</dcterms:modified>
</cp:coreProperties>
</file>